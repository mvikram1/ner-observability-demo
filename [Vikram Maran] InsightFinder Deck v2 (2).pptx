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2EB9C5-F721-429B-A6A3-C8A592C17C64}">
  <a:tblStyle styleId="{072EB9C5-F721-429B-A6A3-C8A592C17C6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22C14D7-2D1C-4DC6-8EAD-9AC44CB7635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Roboto-bold.fntdata"/><Relationship Id="rId10" Type="http://schemas.openxmlformats.org/officeDocument/2006/relationships/slide" Target="slides/slide4.xml"/><Relationship Id="rId21" Type="http://schemas.openxmlformats.org/officeDocument/2006/relationships/font" Target="fonts/Roboto-regular.fntdata"/><Relationship Id="rId13" Type="http://schemas.openxmlformats.org/officeDocument/2006/relationships/slide" Target="slides/slide7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6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d417e7eb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d417e7eb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d417e7eb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d417e7eb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d417e7eb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d417e7eb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417e7eb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417e7eb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417e7eb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d417e7eb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d417e7eb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d417e7eb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d417e7eb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d417e7eb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d417e7eb6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d417e7eb6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d417e7eb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d417e7eb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d417e7eb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d417e7eb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d417e7eb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d417e7eb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d417e7e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d417e7e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Named Entity Resolution (NER) for Customer Segmentation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production FSI case study in ML application observability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677088" y="362057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Vikram Maran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grpSp>
        <p:nvGrpSpPr>
          <p:cNvPr id="93" name="Google Shape;93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94" name="Google Shape;94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Company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4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One of the largest compliance-focused banks in the country, Wells Fargo</a:t>
            </a:r>
            <a:endParaRPr sz="1600"/>
          </a:p>
        </p:txBody>
      </p:sp>
      <p:grpSp>
        <p:nvGrpSpPr>
          <p:cNvPr id="98" name="Google Shape;98;p1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99" name="Google Shape;99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4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14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Site Reliability/Architecture Team is assessing options to centralize/observe/triage NER applications for fraud detection and customer segmentation (ex: location matching)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04" name="Google Shape;104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4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Problem statement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7" name="Google Shape;107;p14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NER model performance degradation issues difficult to root cause across model, data, infra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NER accuracy drops 3%, you can't quickly answer: Is it the model? The data? Infrastructure?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88850" y="410000"/>
            <a:ext cx="89274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1F77B4"/>
                </a:solidFill>
              </a:rPr>
              <a:t>Brownfield: What Wells Fargo Has Today</a:t>
            </a:r>
            <a:endParaRPr b="1" sz="3750">
              <a:solidFill>
                <a:srgbClr val="1F77B4"/>
              </a:solidFill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8" name="Google Shape;118;p16"/>
          <p:cNvGraphicFramePr/>
          <p:nvPr/>
        </p:nvGraphicFramePr>
        <p:xfrm>
          <a:off x="152400" y="13035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{072EB9C5-F721-429B-A6A3-C8A592C17C64}</a:tableStyleId>
              </a:tblPr>
              <a:tblGrid>
                <a:gridCol w="2200275"/>
                <a:gridCol w="2381250"/>
                <a:gridCol w="4098375"/>
              </a:tblGrid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77B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Component</a:t>
                      </a:r>
                      <a:endParaRPr sz="1200">
                        <a:solidFill>
                          <a:srgbClr val="1F77B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77B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Current State</a:t>
                      </a:r>
                      <a:endParaRPr sz="1200">
                        <a:solidFill>
                          <a:srgbClr val="1F77B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77B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Problem</a:t>
                      </a:r>
                      <a:endParaRPr sz="1200">
                        <a:solidFill>
                          <a:srgbClr val="1F77B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Infrastructure Monitoring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Datadog (mature)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Shows latency/availability, but not model-specific signals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 Monitoring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 Python dashboards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Reactive, not predictive; lag in detection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 Quality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Basic checks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Incomplete; doesn't catch distribution drift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Incident Response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ServiceNow rules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Slow triage; can't determine root cause quickly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" name="Google Shape;119;p16"/>
          <p:cNvSpPr txBox="1"/>
          <p:nvPr/>
        </p:nvSpPr>
        <p:spPr>
          <a:xfrm>
            <a:off x="311700" y="3729546"/>
            <a:ext cx="87045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90500" marR="1905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" sz="1200">
                <a:solidFill>
                  <a:srgbClr val="1F77B4"/>
                </a:solidFill>
                <a:highlight>
                  <a:srgbClr val="E8F4F8"/>
                </a:highlight>
                <a:latin typeface="Roboto"/>
                <a:ea typeface="Roboto"/>
                <a:cs typeface="Roboto"/>
                <a:sym typeface="Roboto"/>
              </a:rPr>
              <a:t>The Gap:</a:t>
            </a:r>
            <a:r>
              <a:rPr lang="en" sz="1200">
                <a:solidFill>
                  <a:srgbClr val="333333"/>
                </a:solidFill>
                <a:highlight>
                  <a:srgbClr val="E8F4F8"/>
                </a:highlight>
                <a:latin typeface="Roboto"/>
                <a:ea typeface="Roboto"/>
                <a:cs typeface="Roboto"/>
                <a:sym typeface="Roboto"/>
              </a:rPr>
              <a:t> When NER accuracy drops 3%, you can't quickly answer: Is it the model? The data? Infrastructure?</a:t>
            </a:r>
            <a:endParaRPr sz="1200">
              <a:solidFill>
                <a:srgbClr val="333333"/>
              </a:solidFill>
              <a:highlight>
                <a:srgbClr val="E8F4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1F77B4"/>
                </a:solidFill>
              </a:rPr>
              <a:t>Role/Persona Suggestions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96400" y="1088763"/>
            <a:ext cx="88323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SRE/Architecture Team [Josh, Dan, George, John, Maoyu, Tzhou]</a:t>
            </a:r>
            <a:endParaRPr sz="1550">
              <a:solidFill>
                <a:srgbClr val="1F77B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7025" lvl="0" marL="457200" rtl="0" algn="l">
              <a:lnSpc>
                <a:spcPct val="180000"/>
              </a:lnSpc>
              <a:spcBef>
                <a:spcPts val="900"/>
              </a:spcBef>
              <a:spcAft>
                <a:spcPts val="0"/>
              </a:spcAft>
              <a:buClr>
                <a:srgbClr val="1F77B4"/>
              </a:buClr>
              <a:buSzPts val="1550"/>
              <a:buFont typeface="Roboto"/>
              <a:buAutoNum type="alphaLcPeriod"/>
            </a:pPr>
            <a:r>
              <a:rPr lang="en" sz="15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Security/Network Architects</a:t>
            </a:r>
            <a:endParaRPr sz="1550">
              <a:solidFill>
                <a:srgbClr val="1F77B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7025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550"/>
              <a:buFont typeface="Roboto"/>
              <a:buAutoNum type="alphaLcPeriod"/>
            </a:pPr>
            <a:r>
              <a:rPr lang="en" sz="15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Application Architect [Dan]</a:t>
            </a:r>
            <a:endParaRPr sz="1550">
              <a:solidFill>
                <a:srgbClr val="1F77B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7025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550"/>
              <a:buFont typeface="Roboto"/>
              <a:buAutoNum type="alphaLcPeriod"/>
            </a:pPr>
            <a:r>
              <a:rPr lang="en" sz="15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Data Architect [George]</a:t>
            </a:r>
            <a:endParaRPr sz="1550">
              <a:solidFill>
                <a:srgbClr val="1F77B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7025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550"/>
              <a:buFont typeface="Roboto"/>
              <a:buAutoNum type="alphaLcPeriod"/>
            </a:pPr>
            <a:r>
              <a:rPr lang="en" sz="15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ML/AI Architect [John]</a:t>
            </a:r>
            <a:endParaRPr sz="1550">
              <a:solidFill>
                <a:srgbClr val="1F77B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7025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F77B4"/>
              </a:buClr>
              <a:buSzPts val="1550"/>
              <a:buFont typeface="Roboto"/>
              <a:buAutoNum type="alphaLcPeriod"/>
            </a:pPr>
            <a:r>
              <a:rPr lang="en" sz="15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Site Reliability [Maoyu, Tzhou]</a:t>
            </a:r>
            <a:endParaRPr sz="1550">
              <a:solidFill>
                <a:srgbClr val="1F77B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1F77B4"/>
                </a:solidFill>
              </a:rPr>
              <a:t>Discovery Questions</a:t>
            </a:r>
            <a:endParaRPr b="1" sz="3750">
              <a:solidFill>
                <a:srgbClr val="1F77B4"/>
              </a:solidFill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96400" y="1088763"/>
            <a:ext cx="88323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7025" lvl="0" marL="838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0"/>
              <a:buFont typeface="Roboto"/>
              <a:buChar char="●"/>
            </a:pPr>
            <a:r>
              <a:rPr lang="en" sz="15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How much engineering capacity do you have available?</a:t>
            </a:r>
            <a:endParaRPr sz="1550">
              <a:solidFill>
                <a:srgbClr val="1F77B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7025" lvl="0" marL="838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0"/>
              <a:buFont typeface="Roboto"/>
              <a:buChar char="●"/>
            </a:pPr>
            <a:r>
              <a:rPr lang="en" sz="15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What's your timeline?</a:t>
            </a:r>
            <a:r>
              <a:rPr lang="en" sz="15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When do you need this working?</a:t>
            </a:r>
            <a:endParaRPr sz="155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7025" lvl="0" marL="838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0"/>
              <a:buFont typeface="Roboto"/>
              <a:buChar char="●"/>
            </a:pPr>
            <a:r>
              <a:rPr lang="en" sz="15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Do you have GDPR/data residency requirements?</a:t>
            </a:r>
            <a:endParaRPr sz="1550">
              <a:solidFill>
                <a:srgbClr val="1F77B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7025" lvl="0" marL="838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0"/>
              <a:buFont typeface="Roboto"/>
              <a:buChar char="●"/>
            </a:pPr>
            <a:r>
              <a:rPr lang="en" sz="15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Open source vs. commercial?</a:t>
            </a:r>
            <a:r>
              <a:rPr lang="en" sz="15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What's your preference?</a:t>
            </a:r>
            <a:endParaRPr sz="155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7025" lvl="0" marL="838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0"/>
              <a:buFont typeface="Roboto"/>
              <a:buChar char="●"/>
            </a:pPr>
            <a:r>
              <a:rPr lang="en" sz="15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How long does incident triage currently take?</a:t>
            </a:r>
            <a:endParaRPr sz="1550">
              <a:solidFill>
                <a:srgbClr val="1F77B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7025" lvl="0" marL="838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0"/>
              <a:buFont typeface="Roboto"/>
              <a:buChar char="●"/>
            </a:pPr>
            <a:r>
              <a:rPr lang="en" sz="15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How mature is your data quality monitoring?</a:t>
            </a:r>
            <a:endParaRPr sz="1550">
              <a:solidFill>
                <a:srgbClr val="1F77B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7025" lvl="0" marL="838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0"/>
              <a:buFont typeface="Roboto"/>
              <a:buChar char="●"/>
            </a:pPr>
            <a:r>
              <a:rPr lang="en" sz="15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What's your risk tolerance</a:t>
            </a:r>
            <a:r>
              <a:rPr lang="en" sz="15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around adopting new tooling?</a:t>
            </a:r>
            <a:endParaRPr sz="155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1F77B4"/>
                </a:solidFill>
              </a:rPr>
              <a:t>Solution Options: Buy vs Build</a:t>
            </a:r>
            <a:endParaRPr b="1" sz="3750">
              <a:solidFill>
                <a:srgbClr val="1F77B4"/>
              </a:solidFill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7" name="Google Shape;137;p19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{022C14D7-2D1C-4DC6-8EAD-9AC44CB76353}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77B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Dimension</a:t>
                      </a:r>
                      <a:endParaRPr sz="1100">
                        <a:solidFill>
                          <a:srgbClr val="1F77B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77B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Path 1: Custom</a:t>
                      </a:r>
                      <a:endParaRPr sz="1100">
                        <a:solidFill>
                          <a:srgbClr val="1F77B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77B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Path 2: Hybrid</a:t>
                      </a:r>
                      <a:endParaRPr sz="1100">
                        <a:solidFill>
                          <a:srgbClr val="1F77B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77B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Path 3: Cloud</a:t>
                      </a:r>
                      <a:endParaRPr sz="1100">
                        <a:solidFill>
                          <a:srgbClr val="1F77B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Timeline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16-20 weeks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6-8 weeks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4-6 weeks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Engineering Effort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2-3 FTE × 4mo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 FTE × 6-8w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Minimal (SaaS)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GDPR Compliant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Yes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Yes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✗ No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Cost (5yr)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$$$$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$$$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$$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Best For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Maximum control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Speed + control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Speed only</a:t>
                      </a:r>
                      <a:endParaRPr sz="11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1F77B4"/>
                </a:solidFill>
              </a:rPr>
              <a:t>Build Option</a:t>
            </a:r>
            <a:endParaRPr b="1" sz="3750">
              <a:solidFill>
                <a:srgbClr val="1F77B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n" sz="2350">
                <a:solidFill>
                  <a:srgbClr val="333333"/>
                </a:solidFill>
              </a:rPr>
              <a:t>Design</a:t>
            </a:r>
            <a:r>
              <a:rPr b="1" lang="en" sz="2350">
                <a:solidFill>
                  <a:srgbClr val="333333"/>
                </a:solidFill>
              </a:rPr>
              <a:t>:</a:t>
            </a:r>
            <a:endParaRPr b="1" sz="2350">
              <a:solidFill>
                <a:srgbClr val="333333"/>
              </a:solidFill>
            </a:endParaRPr>
          </a:p>
          <a:p>
            <a:pPr indent="-327025" lvl="0" marL="838200" rtl="0" algn="l">
              <a:lnSpc>
                <a:spcPct val="180000"/>
              </a:lnSpc>
              <a:spcBef>
                <a:spcPts val="1100"/>
              </a:spcBef>
              <a:spcAft>
                <a:spcPts val="0"/>
              </a:spcAft>
              <a:buClr>
                <a:srgbClr val="333333"/>
              </a:buClr>
              <a:buSzPts val="1550"/>
              <a:buChar char="●"/>
            </a:pPr>
            <a:r>
              <a:rPr lang="en" sz="1550">
                <a:solidFill>
                  <a:srgbClr val="333333"/>
                </a:solidFill>
              </a:rPr>
              <a:t>Python service pulling model + infra + data metrics</a:t>
            </a:r>
            <a:endParaRPr sz="1550">
              <a:solidFill>
                <a:srgbClr val="333333"/>
              </a:solidFill>
            </a:endParaRPr>
          </a:p>
          <a:p>
            <a:pPr indent="-327025" lvl="0" marL="838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0"/>
              <a:buChar char="●"/>
            </a:pPr>
            <a:r>
              <a:rPr lang="en" sz="1550">
                <a:solidFill>
                  <a:srgbClr val="333333"/>
                </a:solidFill>
              </a:rPr>
              <a:t>Correlation logic (the hard part)</a:t>
            </a:r>
            <a:endParaRPr sz="1550">
              <a:solidFill>
                <a:srgbClr val="333333"/>
              </a:solidFill>
            </a:endParaRPr>
          </a:p>
          <a:p>
            <a:pPr indent="-327025" lvl="0" marL="838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0"/>
              <a:buChar char="●"/>
            </a:pPr>
            <a:r>
              <a:rPr lang="en" sz="1550">
                <a:solidFill>
                  <a:srgbClr val="333333"/>
                </a:solidFill>
              </a:rPr>
              <a:t>Grafana dashboard + alert routing</a:t>
            </a:r>
            <a:endParaRPr sz="1550">
              <a:solidFill>
                <a:srgbClr val="333333"/>
              </a:solidFill>
            </a:endParaRPr>
          </a:p>
          <a:p>
            <a:pPr indent="0" lvl="0" marL="139700" marR="139700" rtl="0" algn="l">
              <a:lnSpc>
                <a:spcPct val="18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3" name="Google Shape;143;p20"/>
          <p:cNvGraphicFramePr/>
          <p:nvPr/>
        </p:nvGraphicFramePr>
        <p:xfrm>
          <a:off x="436450" y="327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{022C14D7-2D1C-4DC6-8EAD-9AC44CB76353}</a:tableStyleId>
              </a:tblPr>
              <a:tblGrid>
                <a:gridCol w="3619500"/>
                <a:gridCol w="3619500"/>
              </a:tblGrid>
              <a:tr h="56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</a:tr>
              <a:tr h="12711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Maximum control (no vendor lock-in)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Fully GDPR compliant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Customize rules exactly as you want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Building causal inference is non-trivial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Ongoing maintenance burden (1.5-2 FTE long-term)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Risk of gaps (what you didn't think to monitor)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1F77B4"/>
                </a:solidFill>
              </a:rPr>
              <a:t>Hybrid</a:t>
            </a:r>
            <a:r>
              <a:rPr b="1" lang="en" sz="3750">
                <a:solidFill>
                  <a:srgbClr val="1F77B4"/>
                </a:solidFill>
              </a:rPr>
              <a:t> Option</a:t>
            </a:r>
            <a:endParaRPr b="1" sz="3750">
              <a:solidFill>
                <a:srgbClr val="1F77B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rgbClr val="333333"/>
                </a:solidFill>
              </a:rPr>
              <a:t>Architecture:</a:t>
            </a:r>
            <a:endParaRPr b="1" sz="225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Custom Ingestion Layer (on-prem) → InsightFinder Cloud (analysis) → Root Cause</a:t>
            </a:r>
            <a:endParaRPr sz="13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9" name="Google Shape;149;p21"/>
          <p:cNvGraphicFramePr/>
          <p:nvPr/>
        </p:nvGraphicFramePr>
        <p:xfrm>
          <a:off x="504500" y="244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{022C14D7-2D1C-4DC6-8EAD-9AC44CB76353}</a:tableStyleId>
              </a:tblPr>
              <a:tblGrid>
                <a:gridCol w="3619500"/>
                <a:gridCol w="3619500"/>
              </a:tblGrid>
              <a:tr h="59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24175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Faster time to value (6-8 weeks)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Causal Inference for free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GDPR compliant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Less Ops burden (0.5 FTE vs 1.5-2)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Two systems to keep in sync, with each capable of causing different failure modes. Data may have to be anonymized &amp; de-anonymized.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Software updates will have to be timed synchronously.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0" name="Google Shape;150;p21"/>
          <p:cNvSpPr txBox="1"/>
          <p:nvPr/>
        </p:nvSpPr>
        <p:spPr>
          <a:xfrm>
            <a:off x="0" y="4481700"/>
            <a:ext cx="9144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You keep raw customer data on-prem. Custom layer anonymizes and sends only signals to InsightFinder.</a:t>
            </a:r>
            <a:r>
              <a:rPr lang="en" sz="1100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1F77B4"/>
                </a:solidFill>
              </a:rPr>
              <a:t>Buy/SAAS Option</a:t>
            </a:r>
            <a:endParaRPr b="1" sz="3750">
              <a:solidFill>
                <a:srgbClr val="1F77B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n" sz="2350">
                <a:solidFill>
                  <a:srgbClr val="333333"/>
                </a:solidFill>
              </a:rPr>
              <a:t>Architecture:</a:t>
            </a:r>
            <a:endParaRPr b="1" sz="2350">
              <a:solidFill>
                <a:srgbClr val="333333"/>
              </a:solidFill>
            </a:endParaRPr>
          </a:p>
          <a:p>
            <a:pPr indent="0" lvl="0" marL="139700" marR="139700" rtl="0" algn="l">
              <a:lnSpc>
                <a:spcPct val="18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NER System → InsightFinder SDK → InsightFinder Cloud (managed)</a:t>
            </a:r>
            <a:endParaRPr sz="14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6" name="Google Shape;156;p22"/>
          <p:cNvGraphicFramePr/>
          <p:nvPr/>
        </p:nvGraphicFramePr>
        <p:xfrm>
          <a:off x="5045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{022C14D7-2D1C-4DC6-8EAD-9AC44CB76353}</a:tableStyleId>
              </a:tblPr>
              <a:tblGrid>
                <a:gridCol w="3619500"/>
                <a:gridCol w="3619500"/>
              </a:tblGrid>
              <a:tr h="34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5776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Fastest time to value (4-6 weeks)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Lowest engineering effort (minimal integration)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Lowest ongoing ops burden (SaaS)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Full platform (everything included)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Data residency / GDPR issue (customer data goes to cloud)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Less control over raw data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Probably not viable for this use case (compliance constraints)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1F77B4"/>
                </a:solidFill>
              </a:rPr>
              <a:t>Client Recommendation: Hybrid</a:t>
            </a:r>
            <a:endParaRPr/>
          </a:p>
        </p:txBody>
      </p:sp>
      <p:sp>
        <p:nvSpPr>
          <p:cNvPr id="162" name="Google Shape;162;p23"/>
          <p:cNvSpPr txBox="1"/>
          <p:nvPr/>
        </p:nvSpPr>
        <p:spPr>
          <a:xfrm>
            <a:off x="122875" y="1166300"/>
            <a:ext cx="8777400" cy="27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Rationale: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GDPR compliance is non-negotiable (data stays on-prem)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6-8 week timeline fits business urgency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 FTE engineering capacity is realistic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Causal inference is InsightFinder's moat (don't reinvent)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Lower long-term ops burden</a:t>
            </a:r>
            <a:endParaRPr sz="1550">
              <a:solidFill>
                <a:srgbClr val="333333"/>
              </a:solidFill>
              <a:highlight>
                <a:srgbClr val="E8F4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80000"/>
              </a:lnSpc>
              <a:spcBef>
                <a:spcPts val="1900"/>
              </a:spcBef>
              <a:spcAft>
                <a:spcPts val="1100"/>
              </a:spcAft>
              <a:buNone/>
            </a:pPr>
            <a:r>
              <a:rPr lang="en" sz="14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Timeline:</a:t>
            </a:r>
            <a:r>
              <a:rPr lang="en" sz="14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6-8 weeks to full observability</a:t>
            </a:r>
            <a:br>
              <a:rPr lang="en" sz="14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4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Cost:</a:t>
            </a:r>
            <a:r>
              <a:rPr lang="en" sz="14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Engineering + InsightFinder SaaS</a:t>
            </a:r>
            <a:br>
              <a:rPr lang="en" sz="14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450">
                <a:solidFill>
                  <a:srgbClr val="1F77B4"/>
                </a:solidFill>
                <a:latin typeface="Roboto"/>
                <a:ea typeface="Roboto"/>
                <a:cs typeface="Roboto"/>
                <a:sym typeface="Roboto"/>
              </a:rPr>
              <a:t>Risk:</a:t>
            </a:r>
            <a:r>
              <a:rPr lang="en" sz="14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Low (you control data, InsightFinder controls analysis)</a:t>
            </a:r>
            <a:endParaRPr sz="145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1" sz="3750">
              <a:solidFill>
                <a:srgbClr val="1F77B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n" sz="2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What You Actually Use: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825" y="1096475"/>
            <a:ext cx="8125860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292650" y="3192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50">
                <a:solidFill>
                  <a:srgbClr val="1F77B4"/>
                </a:solidFill>
              </a:rPr>
              <a:t>Solutioning Beyond Wells Fargo 2024</a:t>
            </a:r>
            <a:endParaRPr b="1" sz="3750">
              <a:solidFill>
                <a:srgbClr val="1F77B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1100"/>
              </a:spcAft>
              <a:buNone/>
            </a:pPr>
            <a:r>
              <a:rPr b="1" lang="en" sz="2350">
                <a:solidFill>
                  <a:srgbClr val="333333"/>
                </a:solidFill>
              </a:rPr>
              <a:t>InsightFinder Components</a:t>
            </a:r>
            <a:r>
              <a:rPr b="1" lang="en" sz="2350">
                <a:solidFill>
                  <a:srgbClr val="333333"/>
                </a:solidFill>
              </a:rPr>
              <a:t>:</a:t>
            </a:r>
            <a:endParaRPr/>
          </a:p>
        </p:txBody>
      </p:sp>
      <p:graphicFrame>
        <p:nvGraphicFramePr>
          <p:cNvPr id="174" name="Google Shape;174;p25"/>
          <p:cNvGraphicFramePr/>
          <p:nvPr/>
        </p:nvGraphicFramePr>
        <p:xfrm>
          <a:off x="228600" y="17686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{072EB9C5-F721-429B-A6A3-C8A592C17C64}</a:tableStyleId>
              </a:tblPr>
              <a:tblGrid>
                <a:gridCol w="3524250"/>
                <a:gridCol w="1819275"/>
                <a:gridCol w="3457575"/>
              </a:tblGrid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77B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Component</a:t>
                      </a:r>
                      <a:endParaRPr sz="1200">
                        <a:solidFill>
                          <a:srgbClr val="1F77B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77B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Used?</a:t>
                      </a:r>
                      <a:endParaRPr sz="1200">
                        <a:solidFill>
                          <a:srgbClr val="1F77B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77B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Why</a:t>
                      </a:r>
                      <a:endParaRPr sz="1200">
                        <a:solidFill>
                          <a:srgbClr val="1F77B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Core (Causal Inference)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Critical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Figures out root cause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Infrastructure Correlation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Critical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Unique capability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 Observability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Optional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Enhances custom checks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 Monitoring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Partial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Accuracy tracking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ARI (Auto Remediation)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✗ No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Too risky for compliance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42875" marL="142875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80" name="Google Shape;180;p26"/>
          <p:cNvSpPr txBox="1"/>
          <p:nvPr>
            <p:ph idx="1" type="subTitle"/>
          </p:nvPr>
        </p:nvSpPr>
        <p:spPr>
          <a:xfrm>
            <a:off x="864613" y="273293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Vikram Maran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